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rebuild of Fig. 1. match and state share one 16-dimensional pair feature; verify reads a 14-dimensional unary feature whose last four entries are cross-frame evidence. Dotted is selection, not data: all three are scored in one pass, and match's assignment then splits the detections into paired and leftover. The dashed edge leaving verify is suppression, and most of the detection gain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10896"/>
            <a:ext cx="11064240" cy="457200"/>
          </a:xfrm>
          <a:prstGeom prst="rect">
            <a:avLst/>
          </a:prstGeom>
          <a:noFill/>
          <a:ln/>
        </p:spPr>
        <p:txBody>
          <a:bodyPr wrap="square" lIns="0" tIns="0" rIns="0" bIns="0" rtlCol="0" anchor="ctr"/>
          <a:lstStyle/>
          <a:p>
            <a:pPr algn="l" indent="0" marL="0">
              <a:buNone/>
            </a:pPr>
            <a:r>
              <a:rPr lang="en-US" sz="2600" b="1" dirty="0">
                <a:solidFill>
                  <a:srgbClr val="1A1D23"/>
                </a:solidFill>
                <a:latin typeface="Calibri" pitchFamily="34" charset="0"/>
                <a:ea typeface="Calibri" pitchFamily="34" charset="-122"/>
                <a:cs typeface="Calibri" pitchFamily="34" charset="-120"/>
              </a:rPr>
              <a:t>Vision-grounded change reports: pipeline</a:t>
            </a:r>
            <a:endParaRPr lang="en-US" sz="2600" dirty="0"/>
          </a:p>
        </p:txBody>
      </p:sp>
      <p:sp>
        <p:nvSpPr>
          <p:cNvPr id="3" name="Text 1"/>
          <p:cNvSpPr/>
          <p:nvPr/>
        </p:nvSpPr>
        <p:spPr>
          <a:xfrm>
            <a:off x="1815221" y="1053353"/>
            <a:ext cx="1893265" cy="444649"/>
          </a:xfrm>
          <a:prstGeom prst="roundRect">
            <a:avLst>
              <a:gd name="adj" fmla="val 12339"/>
            </a:avLst>
          </a:prstGeom>
          <a:solidFill>
            <a:srgbClr val="FFFFFF"/>
          </a:solidFill>
          <a:ln w="11430">
            <a:solidFill>
              <a:srgbClr val="B8C0CC"/>
            </a:solidFill>
          </a:ln>
        </p:spPr>
        <p:txBody>
          <a:bodyPr wrap="square" lIns="0" tIns="0" rIns="0" bIns="0" rtlCol="0" anchor="ctr"/>
          <a:lstStyle/>
          <a:p>
            <a:pPr algn="ctr" indent="0" marL="0">
              <a:lnSpc>
                <a:spcPct val="105000"/>
              </a:lnSpc>
              <a:buNone/>
            </a:pPr>
            <a:r>
              <a:rPr lang="en-US" sz="1990" dirty="0">
                <a:solidFill>
                  <a:srgbClr val="1A1D23"/>
                </a:solidFill>
                <a:latin typeface="Calibri" pitchFamily="34" charset="0"/>
                <a:ea typeface="Calibri" pitchFamily="34" charset="-122"/>
                <a:cs typeface="Calibri" pitchFamily="34" charset="-120"/>
              </a:rPr>
              <a:t>before image</a:t>
            </a:r>
            <a:endParaRPr lang="en-US" sz="1990" dirty="0"/>
          </a:p>
        </p:txBody>
      </p:sp>
      <p:sp>
        <p:nvSpPr>
          <p:cNvPr id="4" name="Text 2"/>
          <p:cNvSpPr/>
          <p:nvPr/>
        </p:nvSpPr>
        <p:spPr>
          <a:xfrm>
            <a:off x="3911666" y="1053353"/>
            <a:ext cx="1893265" cy="444649"/>
          </a:xfrm>
          <a:prstGeom prst="roundRect">
            <a:avLst>
              <a:gd name="adj" fmla="val 12339"/>
            </a:avLst>
          </a:prstGeom>
          <a:solidFill>
            <a:srgbClr val="FFFFFF"/>
          </a:solidFill>
          <a:ln w="11430">
            <a:solidFill>
              <a:srgbClr val="B8C0CC"/>
            </a:solidFill>
          </a:ln>
        </p:spPr>
        <p:txBody>
          <a:bodyPr wrap="square" lIns="0" tIns="0" rIns="0" bIns="0" rtlCol="0" anchor="ctr"/>
          <a:lstStyle/>
          <a:p>
            <a:pPr algn="ctr" indent="0" marL="0">
              <a:lnSpc>
                <a:spcPct val="105000"/>
              </a:lnSpc>
              <a:buNone/>
            </a:pPr>
            <a:r>
              <a:rPr lang="en-US" sz="1990" dirty="0">
                <a:solidFill>
                  <a:srgbClr val="1A1D23"/>
                </a:solidFill>
                <a:latin typeface="Calibri" pitchFamily="34" charset="0"/>
                <a:ea typeface="Calibri" pitchFamily="34" charset="-122"/>
                <a:cs typeface="Calibri" pitchFamily="34" charset="-120"/>
              </a:rPr>
              <a:t>after image</a:t>
            </a:r>
            <a:endParaRPr lang="en-US" sz="1990" dirty="0"/>
          </a:p>
        </p:txBody>
      </p:sp>
      <p:sp>
        <p:nvSpPr>
          <p:cNvPr id="5" name="Text 3"/>
          <p:cNvSpPr/>
          <p:nvPr/>
        </p:nvSpPr>
        <p:spPr>
          <a:xfrm>
            <a:off x="1755191" y="1842247"/>
            <a:ext cx="4109771" cy="681318"/>
          </a:xfrm>
          <a:prstGeom prst="roundRect">
            <a:avLst>
              <a:gd name="adj" fmla="val 8053"/>
            </a:avLst>
          </a:prstGeom>
          <a:solidFill>
            <a:srgbClr val="F4F6F9"/>
          </a:solidFill>
          <a:ln w="11430">
            <a:solidFill>
              <a:srgbClr val="B8C0CC"/>
            </a:solidFill>
          </a:ln>
        </p:spPr>
        <p:txBody>
          <a:bodyPr wrap="square" lIns="0" tIns="0" rIns="0" bIns="0" rtlCol="0" anchor="ctr"/>
          <a:lstStyle/>
          <a:p>
            <a:pPr algn="ctr" indent="0" marL="0">
              <a:lnSpc>
                <a:spcPct val="105000"/>
              </a:lnSpc>
              <a:buNone/>
            </a:pPr>
            <a:r>
              <a:rPr lang="en-US" sz="2080" dirty="0">
                <a:solidFill>
                  <a:srgbClr val="1A1D23"/>
                </a:solidFill>
                <a:latin typeface="Calibri" pitchFamily="34" charset="0"/>
                <a:ea typeface="Calibri" pitchFamily="34" charset="-122"/>
                <a:cs typeface="Calibri" pitchFamily="34" charset="-120"/>
              </a:rPr>
              <a:t>SAM3 detections</a:t>
            </a:r>
            <a:endParaRPr lang="en-US" sz="2080" dirty="0"/>
          </a:p>
          <a:p>
            <a:pPr algn="ctr" indent="0" marL="0">
              <a:lnSpc>
                <a:spcPct val="105000"/>
              </a:lnSpc>
              <a:buNone/>
            </a:pPr>
            <a:r>
              <a:rPr lang="en-US" sz="1670" dirty="0">
                <a:solidFill>
                  <a:srgbClr val="6B7280"/>
                </a:solidFill>
                <a:latin typeface="Calibri" pitchFamily="34" charset="0"/>
                <a:ea typeface="Calibri" pitchFamily="34" charset="-122"/>
                <a:cs typeface="Calibri" pitchFamily="34" charset="-120"/>
              </a:rPr>
              <a:t>one set per image · geo-referenced</a:t>
            </a:r>
            <a:endParaRPr lang="en-US" sz="2080" dirty="0"/>
          </a:p>
        </p:txBody>
      </p:sp>
      <p:sp>
        <p:nvSpPr>
          <p:cNvPr id="6" name="Text 4"/>
          <p:cNvSpPr/>
          <p:nvPr/>
        </p:nvSpPr>
        <p:spPr>
          <a:xfrm>
            <a:off x="6326734" y="1842247"/>
            <a:ext cx="4109771" cy="681318"/>
          </a:xfrm>
          <a:prstGeom prst="roundRect">
            <a:avLst>
              <a:gd name="adj" fmla="val 8053"/>
            </a:avLst>
          </a:prstGeom>
          <a:solidFill>
            <a:srgbClr val="FDF1E3"/>
          </a:solidFill>
          <a:ln w="11430">
            <a:solidFill>
              <a:srgbClr val="C8802A"/>
            </a:solidFill>
          </a:ln>
        </p:spPr>
        <p:txBody>
          <a:bodyPr wrap="square" lIns="0" tIns="0" rIns="0" bIns="0" rtlCol="0" anchor="ctr"/>
          <a:lstStyle/>
          <a:p>
            <a:pPr algn="ctr" indent="0" marL="0">
              <a:lnSpc>
                <a:spcPct val="105000"/>
              </a:lnSpc>
              <a:buNone/>
            </a:pPr>
            <a:r>
              <a:rPr lang="en-US" sz="2080" dirty="0">
                <a:solidFill>
                  <a:srgbClr val="1A1D23"/>
                </a:solidFill>
                <a:latin typeface="Calibri" pitchFamily="34" charset="0"/>
                <a:ea typeface="Calibri" pitchFamily="34" charset="-122"/>
                <a:cs typeface="Calibri" pitchFamily="34" charset="-120"/>
              </a:rPr>
              <a:t>cross-frame evidence</a:t>
            </a:r>
            <a:endParaRPr lang="en-US" sz="2080" dirty="0"/>
          </a:p>
          <a:p>
            <a:pPr algn="ctr" indent="0" marL="0">
              <a:lnSpc>
                <a:spcPct val="105000"/>
              </a:lnSpc>
              <a:buNone/>
            </a:pPr>
            <a:r>
              <a:rPr lang="en-US" sz="1670" dirty="0">
                <a:solidFill>
                  <a:srgbClr val="6B7280"/>
                </a:solidFill>
                <a:latin typeface="Calibri" pitchFamily="34" charset="0"/>
                <a:ea typeface="Calibri" pitchFamily="34" charset="-122"/>
                <a:cs typeface="Calibri" pitchFamily="34" charset="-120"/>
              </a:rPr>
              <a:t>re-checked in the other image</a:t>
            </a:r>
            <a:endParaRPr lang="en-US" sz="2080" dirty="0"/>
          </a:p>
        </p:txBody>
      </p:sp>
      <p:sp>
        <p:nvSpPr>
          <p:cNvPr id="7" name="Shape 5"/>
          <p:cNvSpPr/>
          <p:nvPr/>
        </p:nvSpPr>
        <p:spPr>
          <a:xfrm>
            <a:off x="2761854" y="1670125"/>
            <a:ext cx="2096445" cy="0"/>
          </a:xfrm>
          <a:prstGeom prst="line">
            <a:avLst/>
          </a:prstGeom>
          <a:noFill/>
          <a:ln w="15240">
            <a:solidFill>
              <a:srgbClr val="9AA2AF"/>
            </a:solidFill>
            <a:prstDash val="solid"/>
          </a:ln>
        </p:spPr>
      </p:sp>
      <p:sp>
        <p:nvSpPr>
          <p:cNvPr id="8" name="Shape 6"/>
          <p:cNvSpPr/>
          <p:nvPr/>
        </p:nvSpPr>
        <p:spPr>
          <a:xfrm>
            <a:off x="2761854" y="1498002"/>
            <a:ext cx="0" cy="172122"/>
          </a:xfrm>
          <a:prstGeom prst="line">
            <a:avLst/>
          </a:prstGeom>
          <a:noFill/>
          <a:ln w="15240">
            <a:solidFill>
              <a:srgbClr val="9AA2AF"/>
            </a:solidFill>
            <a:prstDash val="solid"/>
          </a:ln>
        </p:spPr>
      </p:sp>
      <p:sp>
        <p:nvSpPr>
          <p:cNvPr id="9" name="Shape 7"/>
          <p:cNvSpPr/>
          <p:nvPr/>
        </p:nvSpPr>
        <p:spPr>
          <a:xfrm>
            <a:off x="4858299" y="1498002"/>
            <a:ext cx="0" cy="172122"/>
          </a:xfrm>
          <a:prstGeom prst="line">
            <a:avLst/>
          </a:prstGeom>
          <a:noFill/>
          <a:ln w="15240">
            <a:solidFill>
              <a:srgbClr val="9AA2AF"/>
            </a:solidFill>
            <a:prstDash val="solid"/>
          </a:ln>
        </p:spPr>
      </p:sp>
      <p:sp>
        <p:nvSpPr>
          <p:cNvPr id="10" name="Shape 8"/>
          <p:cNvSpPr/>
          <p:nvPr/>
        </p:nvSpPr>
        <p:spPr>
          <a:xfrm>
            <a:off x="3810076" y="1670125"/>
            <a:ext cx="0" cy="172122"/>
          </a:xfrm>
          <a:prstGeom prst="line">
            <a:avLst/>
          </a:prstGeom>
          <a:noFill/>
          <a:ln w="15240">
            <a:solidFill>
              <a:srgbClr val="9AA2AF"/>
            </a:solidFill>
            <a:prstDash val="solid"/>
            <a:tailEnd type="triangle"/>
          </a:ln>
        </p:spPr>
      </p:sp>
      <p:sp>
        <p:nvSpPr>
          <p:cNvPr id="11" name="Shape 9"/>
          <p:cNvSpPr/>
          <p:nvPr/>
        </p:nvSpPr>
        <p:spPr>
          <a:xfrm>
            <a:off x="5864962" y="2182906"/>
            <a:ext cx="461772" cy="0"/>
          </a:xfrm>
          <a:prstGeom prst="line">
            <a:avLst/>
          </a:prstGeom>
          <a:noFill/>
          <a:ln w="15240">
            <a:solidFill>
              <a:srgbClr val="9AA2AF"/>
            </a:solidFill>
            <a:prstDash val="solid"/>
            <a:tailEnd type="triangle"/>
          </a:ln>
        </p:spPr>
      </p:sp>
      <p:sp>
        <p:nvSpPr>
          <p:cNvPr id="12" name="Shape 10"/>
          <p:cNvSpPr/>
          <p:nvPr/>
        </p:nvSpPr>
        <p:spPr>
          <a:xfrm>
            <a:off x="3810076" y="2523565"/>
            <a:ext cx="0" cy="236668"/>
          </a:xfrm>
          <a:prstGeom prst="line">
            <a:avLst/>
          </a:prstGeom>
          <a:noFill/>
          <a:ln w="15240">
            <a:solidFill>
              <a:srgbClr val="9AA2AF"/>
            </a:solidFill>
            <a:prstDash val="solid"/>
            <a:tailEnd type="triangle"/>
          </a:ln>
        </p:spPr>
      </p:sp>
      <p:sp>
        <p:nvSpPr>
          <p:cNvPr id="13" name="Shape 11"/>
          <p:cNvSpPr/>
          <p:nvPr/>
        </p:nvSpPr>
        <p:spPr>
          <a:xfrm>
            <a:off x="1755191" y="2760233"/>
            <a:ext cx="8681314" cy="2381026"/>
          </a:xfrm>
          <a:prstGeom prst="roundRect">
            <a:avLst>
              <a:gd name="adj" fmla="val 1920"/>
            </a:avLst>
          </a:prstGeom>
          <a:solidFill>
            <a:srgbClr val="E8EEFB"/>
          </a:solidFill>
          <a:ln w="25400">
            <a:solidFill>
              <a:srgbClr val="3B6CC4"/>
            </a:solidFill>
            <a:prstDash val="solid"/>
          </a:ln>
        </p:spPr>
      </p:sp>
      <p:sp>
        <p:nvSpPr>
          <p:cNvPr id="14" name="Text 12"/>
          <p:cNvSpPr txBox="1"/>
          <p:nvPr/>
        </p:nvSpPr>
        <p:spPr>
          <a:xfrm>
            <a:off x="3809848" y="2767763"/>
            <a:ext cx="4572000" cy="329184"/>
          </a:xfrm>
          <a:prstGeom prst="rect">
            <a:avLst/>
          </a:prstGeom>
          <a:noFill/>
          <a:ln/>
        </p:spPr>
        <p:txBody>
          <a:bodyPr wrap="square" lIns="0" tIns="0" rIns="0" bIns="0" rtlCol="0" anchor="ctr"/>
          <a:lstStyle/>
          <a:p>
            <a:pPr algn="ctr" indent="0" marL="0">
              <a:buNone/>
            </a:pPr>
            <a:r>
              <a:rPr lang="en-US" sz="2250" b="1" dirty="0">
                <a:solidFill>
                  <a:srgbClr val="3B6CC4"/>
                </a:solidFill>
                <a:latin typeface="Calibri" pitchFamily="34" charset="0"/>
                <a:ea typeface="Calibri" pitchFamily="34" charset="-122"/>
                <a:cs typeface="Calibri" pitchFamily="34" charset="-120"/>
              </a:rPr>
              <a:t>learned pairing head</a:t>
            </a:r>
            <a:endParaRPr lang="en-US" sz="2250" dirty="0"/>
          </a:p>
        </p:txBody>
      </p:sp>
      <p:sp>
        <p:nvSpPr>
          <p:cNvPr id="15" name="Text 13"/>
          <p:cNvSpPr/>
          <p:nvPr/>
        </p:nvSpPr>
        <p:spPr>
          <a:xfrm>
            <a:off x="1995312" y="3764280"/>
            <a:ext cx="2318095" cy="946673"/>
          </a:xfrm>
          <a:prstGeom prst="roundRect">
            <a:avLst>
              <a:gd name="adj" fmla="val 5795"/>
            </a:avLst>
          </a:prstGeom>
          <a:solidFill>
            <a:srgbClr val="FFFFFF"/>
          </a:solidFill>
          <a:ln w="12700">
            <a:solidFill>
              <a:srgbClr val="3B6CC4"/>
            </a:solidFill>
          </a:ln>
        </p:spPr>
        <p:txBody>
          <a:bodyPr wrap="square" lIns="0" tIns="0" rIns="0" bIns="0" rtlCol="0" anchor="ctr"/>
          <a:lstStyle/>
          <a:p>
            <a:pPr algn="ctr" indent="0" marL="0">
              <a:lnSpc>
                <a:spcPct val="105000"/>
              </a:lnSpc>
              <a:buNone/>
            </a:pPr>
            <a:r>
              <a:rPr lang="en-US" sz="2080" dirty="0">
                <a:solidFill>
                  <a:srgbClr val="1A1D23"/>
                </a:solidFill>
                <a:latin typeface="Calibri" pitchFamily="34" charset="0"/>
                <a:ea typeface="Calibri" pitchFamily="34" charset="-122"/>
                <a:cs typeface="Calibri" pitchFamily="34" charset="-120"/>
              </a:rPr>
              <a:t>match</a:t>
            </a:r>
            <a:endParaRPr lang="en-US" sz="2080" dirty="0"/>
          </a:p>
          <a:p>
            <a:pPr algn="ctr" indent="0" marL="0">
              <a:lnSpc>
                <a:spcPct val="105000"/>
              </a:lnSpc>
              <a:buNone/>
            </a:pPr>
            <a:r>
              <a:rPr lang="en-US" sz="1670" dirty="0">
                <a:solidFill>
                  <a:srgbClr val="6B7280"/>
                </a:solidFill>
                <a:latin typeface="Calibri" pitchFamily="34" charset="0"/>
                <a:ea typeface="Calibri" pitchFamily="34" charset="-122"/>
                <a:cs typeface="Calibri" pitchFamily="34" charset="-120"/>
              </a:rPr>
              <a:t>candidate pairs</a:t>
            </a:r>
            <a:endParaRPr lang="en-US" sz="2080" dirty="0"/>
          </a:p>
          <a:p>
            <a:pPr algn="ctr" indent="0" marL="0">
              <a:lnSpc>
                <a:spcPct val="105000"/>
              </a:lnSpc>
              <a:buNone/>
            </a:pPr>
            <a:r>
              <a:rPr lang="en-US" sz="1670" dirty="0">
                <a:solidFill>
                  <a:srgbClr val="6B7280"/>
                </a:solidFill>
                <a:latin typeface="Calibri" pitchFamily="34" charset="0"/>
                <a:ea typeface="Calibri" pitchFamily="34" charset="-122"/>
                <a:cs typeface="Calibri" pitchFamily="34" charset="-120"/>
              </a:rPr>
              <a:t>same object?</a:t>
            </a:r>
            <a:endParaRPr lang="en-US" sz="2080" dirty="0"/>
          </a:p>
        </p:txBody>
      </p:sp>
      <p:sp>
        <p:nvSpPr>
          <p:cNvPr id="16" name="Text 14"/>
          <p:cNvSpPr/>
          <p:nvPr/>
        </p:nvSpPr>
        <p:spPr>
          <a:xfrm>
            <a:off x="4590471" y="3764280"/>
            <a:ext cx="2318095" cy="946673"/>
          </a:xfrm>
          <a:prstGeom prst="roundRect">
            <a:avLst>
              <a:gd name="adj" fmla="val 5795"/>
            </a:avLst>
          </a:prstGeom>
          <a:solidFill>
            <a:srgbClr val="FFFFFF"/>
          </a:solidFill>
          <a:ln w="12700">
            <a:solidFill>
              <a:srgbClr val="3B6CC4"/>
            </a:solidFill>
          </a:ln>
        </p:spPr>
        <p:txBody>
          <a:bodyPr wrap="square" lIns="0" tIns="0" rIns="0" bIns="0" rtlCol="0" anchor="ctr"/>
          <a:lstStyle/>
          <a:p>
            <a:pPr algn="ctr" indent="0" marL="0">
              <a:lnSpc>
                <a:spcPct val="105000"/>
              </a:lnSpc>
              <a:buNone/>
            </a:pPr>
            <a:r>
              <a:rPr lang="en-US" sz="2080" dirty="0">
                <a:solidFill>
                  <a:srgbClr val="1A1D23"/>
                </a:solidFill>
                <a:latin typeface="Calibri" pitchFamily="34" charset="0"/>
                <a:ea typeface="Calibri" pitchFamily="34" charset="-122"/>
                <a:cs typeface="Calibri" pitchFamily="34" charset="-120"/>
              </a:rPr>
              <a:t>state</a:t>
            </a:r>
            <a:endParaRPr lang="en-US" sz="2080" dirty="0"/>
          </a:p>
          <a:p>
            <a:pPr algn="ctr" indent="0" marL="0">
              <a:lnSpc>
                <a:spcPct val="105000"/>
              </a:lnSpc>
              <a:buNone/>
            </a:pPr>
            <a:r>
              <a:rPr lang="en-US" sz="1670" dirty="0">
                <a:solidFill>
                  <a:srgbClr val="6B7280"/>
                </a:solidFill>
                <a:latin typeface="Calibri" pitchFamily="34" charset="0"/>
                <a:ea typeface="Calibri" pitchFamily="34" charset="-122"/>
                <a:cs typeface="Calibri" pitchFamily="34" charset="-120"/>
              </a:rPr>
              <a:t>matched pairs</a:t>
            </a:r>
            <a:endParaRPr lang="en-US" sz="2080" dirty="0"/>
          </a:p>
          <a:p>
            <a:pPr algn="ctr" indent="0" marL="0">
              <a:lnSpc>
                <a:spcPct val="105000"/>
              </a:lnSpc>
              <a:buNone/>
            </a:pPr>
            <a:r>
              <a:rPr lang="en-US" sz="1670" dirty="0">
                <a:solidFill>
                  <a:srgbClr val="6B7280"/>
                </a:solidFill>
                <a:latin typeface="Calibri" pitchFamily="34" charset="0"/>
                <a:ea typeface="Calibri" pitchFamily="34" charset="-122"/>
                <a:cs typeface="Calibri" pitchFamily="34" charset="-120"/>
              </a:rPr>
              <a:t>modified = change</a:t>
            </a:r>
            <a:endParaRPr lang="en-US" sz="2080" dirty="0"/>
          </a:p>
        </p:txBody>
      </p:sp>
      <p:sp>
        <p:nvSpPr>
          <p:cNvPr id="17" name="Text 15"/>
          <p:cNvSpPr/>
          <p:nvPr/>
        </p:nvSpPr>
        <p:spPr>
          <a:xfrm>
            <a:off x="7185630" y="3764280"/>
            <a:ext cx="2318095" cy="946673"/>
          </a:xfrm>
          <a:prstGeom prst="roundRect">
            <a:avLst>
              <a:gd name="adj" fmla="val 5795"/>
            </a:avLst>
          </a:prstGeom>
          <a:solidFill>
            <a:srgbClr val="FFFFFF"/>
          </a:solidFill>
          <a:ln w="12700">
            <a:solidFill>
              <a:srgbClr val="3B6CC4"/>
            </a:solidFill>
          </a:ln>
        </p:spPr>
        <p:txBody>
          <a:bodyPr wrap="square" lIns="0" tIns="0" rIns="0" bIns="0" rtlCol="0" anchor="ctr"/>
          <a:lstStyle/>
          <a:p>
            <a:pPr algn="ctr" indent="0" marL="0">
              <a:lnSpc>
                <a:spcPct val="105000"/>
              </a:lnSpc>
              <a:buNone/>
            </a:pPr>
            <a:r>
              <a:rPr lang="en-US" sz="2080" dirty="0">
                <a:solidFill>
                  <a:srgbClr val="1A1D23"/>
                </a:solidFill>
                <a:latin typeface="Calibri" pitchFamily="34" charset="0"/>
                <a:ea typeface="Calibri" pitchFamily="34" charset="-122"/>
                <a:cs typeface="Calibri" pitchFamily="34" charset="-120"/>
              </a:rPr>
              <a:t>verify</a:t>
            </a:r>
            <a:endParaRPr lang="en-US" sz="2080" dirty="0"/>
          </a:p>
          <a:p>
            <a:pPr algn="ctr" indent="0" marL="0">
              <a:lnSpc>
                <a:spcPct val="105000"/>
              </a:lnSpc>
              <a:buNone/>
            </a:pPr>
            <a:r>
              <a:rPr lang="en-US" sz="1670" dirty="0">
                <a:solidFill>
                  <a:srgbClr val="6B7280"/>
                </a:solidFill>
                <a:latin typeface="Calibri" pitchFamily="34" charset="0"/>
                <a:ea typeface="Calibri" pitchFamily="34" charset="-122"/>
                <a:cs typeface="Calibri" pitchFamily="34" charset="-120"/>
              </a:rPr>
              <a:t>unmatched ones</a:t>
            </a:r>
            <a:endParaRPr lang="en-US" sz="2080" dirty="0"/>
          </a:p>
          <a:p>
            <a:pPr algn="ctr" indent="0" marL="0">
              <a:lnSpc>
                <a:spcPct val="105000"/>
              </a:lnSpc>
              <a:buNone/>
            </a:pPr>
            <a:r>
              <a:rPr lang="en-US" sz="1670" dirty="0">
                <a:solidFill>
                  <a:srgbClr val="6B7280"/>
                </a:solidFill>
                <a:latin typeface="Calibri" pitchFamily="34" charset="0"/>
                <a:ea typeface="Calibri" pitchFamily="34" charset="-122"/>
                <a:cs typeface="Calibri" pitchFamily="34" charset="-120"/>
              </a:rPr>
              <a:t>keep or discard</a:t>
            </a:r>
            <a:endParaRPr lang="en-US" sz="2080" dirty="0"/>
          </a:p>
        </p:txBody>
      </p:sp>
      <p:sp>
        <p:nvSpPr>
          <p:cNvPr id="18" name="Shape 16"/>
          <p:cNvSpPr/>
          <p:nvPr/>
        </p:nvSpPr>
        <p:spPr>
          <a:xfrm>
            <a:off x="3154360" y="3133165"/>
            <a:ext cx="5190317" cy="0"/>
          </a:xfrm>
          <a:prstGeom prst="line">
            <a:avLst/>
          </a:prstGeom>
          <a:noFill/>
          <a:ln w="15240">
            <a:solidFill>
              <a:srgbClr val="3B6CC4"/>
            </a:solidFill>
            <a:prstDash val="solid"/>
          </a:ln>
        </p:spPr>
      </p:sp>
      <p:sp>
        <p:nvSpPr>
          <p:cNvPr id="19" name="Shape 17"/>
          <p:cNvSpPr/>
          <p:nvPr/>
        </p:nvSpPr>
        <p:spPr>
          <a:xfrm>
            <a:off x="3810076" y="2760233"/>
            <a:ext cx="0" cy="372932"/>
          </a:xfrm>
          <a:prstGeom prst="line">
            <a:avLst/>
          </a:prstGeom>
          <a:noFill/>
          <a:ln w="15240">
            <a:solidFill>
              <a:srgbClr val="3B6CC4"/>
            </a:solidFill>
            <a:prstDash val="solid"/>
          </a:ln>
        </p:spPr>
      </p:sp>
      <p:sp>
        <p:nvSpPr>
          <p:cNvPr id="20" name="Shape 18"/>
          <p:cNvSpPr/>
          <p:nvPr/>
        </p:nvSpPr>
        <p:spPr>
          <a:xfrm>
            <a:off x="3154360" y="3133165"/>
            <a:ext cx="0" cy="344245"/>
          </a:xfrm>
          <a:prstGeom prst="line">
            <a:avLst/>
          </a:prstGeom>
          <a:noFill/>
          <a:ln w="15240">
            <a:solidFill>
              <a:srgbClr val="3B6CC4"/>
            </a:solidFill>
            <a:prstDash val="solid"/>
            <a:tailEnd type="triangle"/>
          </a:ln>
        </p:spPr>
      </p:sp>
      <p:sp>
        <p:nvSpPr>
          <p:cNvPr id="21" name="Shape 19"/>
          <p:cNvSpPr/>
          <p:nvPr/>
        </p:nvSpPr>
        <p:spPr>
          <a:xfrm>
            <a:off x="5749519" y="3133165"/>
            <a:ext cx="0" cy="344245"/>
          </a:xfrm>
          <a:prstGeom prst="line">
            <a:avLst/>
          </a:prstGeom>
          <a:noFill/>
          <a:ln w="15240">
            <a:solidFill>
              <a:srgbClr val="3B6CC4"/>
            </a:solidFill>
            <a:prstDash val="solid"/>
            <a:tailEnd type="triangle"/>
          </a:ln>
        </p:spPr>
      </p:sp>
      <p:sp>
        <p:nvSpPr>
          <p:cNvPr id="22" name="Shape 20"/>
          <p:cNvSpPr/>
          <p:nvPr/>
        </p:nvSpPr>
        <p:spPr>
          <a:xfrm>
            <a:off x="8344677" y="3133165"/>
            <a:ext cx="0" cy="143435"/>
          </a:xfrm>
          <a:prstGeom prst="line">
            <a:avLst/>
          </a:prstGeom>
          <a:noFill/>
          <a:ln w="15240">
            <a:solidFill>
              <a:srgbClr val="3B6CC4"/>
            </a:solidFill>
            <a:prstDash val="solid"/>
          </a:ln>
        </p:spPr>
      </p:sp>
      <p:sp>
        <p:nvSpPr>
          <p:cNvPr id="23" name="Shape 21"/>
          <p:cNvSpPr/>
          <p:nvPr/>
        </p:nvSpPr>
        <p:spPr>
          <a:xfrm>
            <a:off x="9850054" y="2523565"/>
            <a:ext cx="0" cy="753035"/>
          </a:xfrm>
          <a:prstGeom prst="line">
            <a:avLst/>
          </a:prstGeom>
          <a:noFill/>
          <a:ln w="19050">
            <a:solidFill>
              <a:srgbClr val="C8802A"/>
            </a:solidFill>
            <a:prstDash val="solid"/>
          </a:ln>
        </p:spPr>
      </p:sp>
      <p:sp>
        <p:nvSpPr>
          <p:cNvPr id="24" name="Shape 22"/>
          <p:cNvSpPr/>
          <p:nvPr/>
        </p:nvSpPr>
        <p:spPr>
          <a:xfrm flipH="1">
            <a:off x="8344677" y="3276600"/>
            <a:ext cx="1505377" cy="0"/>
          </a:xfrm>
          <a:prstGeom prst="line">
            <a:avLst/>
          </a:prstGeom>
          <a:noFill/>
          <a:ln w="19050">
            <a:solidFill>
              <a:srgbClr val="C8802A"/>
            </a:solidFill>
            <a:prstDash val="solid"/>
          </a:ln>
        </p:spPr>
      </p:sp>
      <p:sp>
        <p:nvSpPr>
          <p:cNvPr id="25" name="Shape 23"/>
          <p:cNvSpPr/>
          <p:nvPr/>
        </p:nvSpPr>
        <p:spPr>
          <a:xfrm>
            <a:off x="8344677" y="3276600"/>
            <a:ext cx="0" cy="200809"/>
          </a:xfrm>
          <a:prstGeom prst="line">
            <a:avLst/>
          </a:prstGeom>
          <a:noFill/>
          <a:ln w="15240">
            <a:solidFill>
              <a:srgbClr val="3B6CC4"/>
            </a:solidFill>
            <a:prstDash val="solid"/>
            <a:tailEnd type="triangle"/>
          </a:ln>
        </p:spPr>
      </p:sp>
      <p:sp>
        <p:nvSpPr>
          <p:cNvPr id="26" name="Shape 24"/>
          <p:cNvSpPr/>
          <p:nvPr/>
        </p:nvSpPr>
        <p:spPr>
          <a:xfrm>
            <a:off x="8294385" y="3226308"/>
            <a:ext cx="100584" cy="100584"/>
          </a:xfrm>
          <a:prstGeom prst="ellipse">
            <a:avLst/>
          </a:prstGeom>
          <a:solidFill>
            <a:srgbClr val="3B6CC4"/>
          </a:solidFill>
          <a:ln w="6350">
            <a:solidFill>
              <a:srgbClr val="3B6CC4"/>
            </a:solidFill>
            <a:prstDash val="solid"/>
          </a:ln>
        </p:spPr>
      </p:sp>
      <p:sp>
        <p:nvSpPr>
          <p:cNvPr id="27" name="Text 25"/>
          <p:cNvSpPr txBox="1"/>
          <p:nvPr/>
        </p:nvSpPr>
        <p:spPr>
          <a:xfrm>
            <a:off x="2148520" y="3431510"/>
            <a:ext cx="2011680" cy="292608"/>
          </a:xfrm>
          <a:prstGeom prst="rect">
            <a:avLst/>
          </a:prstGeom>
          <a:noFill/>
          <a:ln/>
        </p:spPr>
        <p:txBody>
          <a:bodyPr wrap="square" lIns="0" tIns="0" rIns="0" bIns="0" rtlCol="0" anchor="ctr"/>
          <a:lstStyle/>
          <a:p>
            <a:pPr algn="ctr" indent="0" marL="0">
              <a:buNone/>
            </a:pPr>
            <a:r>
              <a:rPr lang="en-US" sz="1560" i="1" dirty="0">
                <a:solidFill>
                  <a:srgbClr val="6B7280"/>
                </a:solidFill>
                <a:latin typeface="Calibri" pitchFamily="34" charset="0"/>
                <a:ea typeface="Calibri" pitchFamily="34" charset="-122"/>
                <a:cs typeface="Calibri" pitchFamily="34" charset="-120"/>
              </a:rPr>
              <a:t>pair features (16)</a:t>
            </a:r>
            <a:endParaRPr lang="en-US" sz="1560" dirty="0"/>
          </a:p>
        </p:txBody>
      </p:sp>
      <p:sp>
        <p:nvSpPr>
          <p:cNvPr id="28" name="Text 26"/>
          <p:cNvSpPr txBox="1"/>
          <p:nvPr/>
        </p:nvSpPr>
        <p:spPr>
          <a:xfrm>
            <a:off x="4743679" y="3431510"/>
            <a:ext cx="2011680" cy="292608"/>
          </a:xfrm>
          <a:prstGeom prst="rect">
            <a:avLst/>
          </a:prstGeom>
          <a:noFill/>
          <a:ln/>
        </p:spPr>
        <p:txBody>
          <a:bodyPr wrap="square" lIns="0" tIns="0" rIns="0" bIns="0" rtlCol="0" anchor="ctr"/>
          <a:lstStyle/>
          <a:p>
            <a:pPr algn="ctr" indent="0" marL="0">
              <a:buNone/>
            </a:pPr>
            <a:r>
              <a:rPr lang="en-US" sz="1560" i="1" dirty="0">
                <a:solidFill>
                  <a:srgbClr val="6B7280"/>
                </a:solidFill>
                <a:latin typeface="Calibri" pitchFamily="34" charset="0"/>
                <a:ea typeface="Calibri" pitchFamily="34" charset="-122"/>
                <a:cs typeface="Calibri" pitchFamily="34" charset="-120"/>
              </a:rPr>
              <a:t>pair features (16)</a:t>
            </a:r>
            <a:endParaRPr lang="en-US" sz="1560" dirty="0"/>
          </a:p>
        </p:txBody>
      </p:sp>
      <p:sp>
        <p:nvSpPr>
          <p:cNvPr id="29" name="Text 27"/>
          <p:cNvSpPr txBox="1"/>
          <p:nvPr/>
        </p:nvSpPr>
        <p:spPr>
          <a:xfrm>
            <a:off x="7289307" y="3431510"/>
            <a:ext cx="2110740" cy="292608"/>
          </a:xfrm>
          <a:prstGeom prst="rect">
            <a:avLst/>
          </a:prstGeom>
          <a:noFill/>
          <a:ln/>
        </p:spPr>
        <p:txBody>
          <a:bodyPr wrap="square" lIns="0" tIns="0" rIns="0" bIns="0" rtlCol="0" anchor="ctr"/>
          <a:lstStyle/>
          <a:p>
            <a:pPr algn="ctr" indent="0" marL="0">
              <a:buNone/>
            </a:pPr>
            <a:r>
              <a:rPr lang="en-US" sz="1560" i="1" dirty="0">
                <a:solidFill>
                  <a:srgbClr val="6B7280"/>
                </a:solidFill>
                <a:latin typeface="Calibri" pitchFamily="34" charset="0"/>
                <a:ea typeface="Calibri" pitchFamily="34" charset="-122"/>
                <a:cs typeface="Calibri" pitchFamily="34" charset="-120"/>
              </a:rPr>
              <a:t>unary features (14)</a:t>
            </a:r>
            <a:endParaRPr lang="en-US" sz="1560" dirty="0"/>
          </a:p>
        </p:txBody>
      </p:sp>
      <p:sp>
        <p:nvSpPr>
          <p:cNvPr id="30" name="Text 28"/>
          <p:cNvSpPr txBox="1"/>
          <p:nvPr/>
        </p:nvSpPr>
        <p:spPr>
          <a:xfrm>
            <a:off x="8314411" y="2915143"/>
            <a:ext cx="1565910" cy="292608"/>
          </a:xfrm>
          <a:prstGeom prst="rect">
            <a:avLst/>
          </a:prstGeom>
          <a:noFill/>
          <a:ln/>
        </p:spPr>
        <p:txBody>
          <a:bodyPr wrap="square" lIns="0" tIns="0" rIns="0" bIns="0" rtlCol="0" anchor="ctr"/>
          <a:lstStyle/>
          <a:p>
            <a:pPr algn="ctr" indent="0" marL="0">
              <a:buNone/>
            </a:pPr>
            <a:r>
              <a:rPr lang="en-US" sz="1620" i="1" dirty="0">
                <a:solidFill>
                  <a:srgbClr val="C8802A"/>
                </a:solidFill>
                <a:latin typeface="Calibri" pitchFamily="34" charset="0"/>
                <a:ea typeface="Calibri" pitchFamily="34" charset="-122"/>
                <a:cs typeface="Calibri" pitchFamily="34" charset="-120"/>
              </a:rPr>
              <a:t>4 cross-frame</a:t>
            </a:r>
            <a:endParaRPr lang="en-US" sz="1620" dirty="0"/>
          </a:p>
        </p:txBody>
      </p:sp>
      <p:sp>
        <p:nvSpPr>
          <p:cNvPr id="31" name="Shape 29"/>
          <p:cNvSpPr/>
          <p:nvPr/>
        </p:nvSpPr>
        <p:spPr>
          <a:xfrm>
            <a:off x="3154360" y="4768327"/>
            <a:ext cx="0" cy="286871"/>
          </a:xfrm>
          <a:prstGeom prst="line">
            <a:avLst/>
          </a:prstGeom>
          <a:noFill/>
          <a:ln w="12700">
            <a:solidFill>
              <a:srgbClr val="6B7280"/>
            </a:solidFill>
            <a:prstDash val="sysDot"/>
          </a:ln>
        </p:spPr>
      </p:sp>
      <p:sp>
        <p:nvSpPr>
          <p:cNvPr id="32" name="Shape 30"/>
          <p:cNvSpPr/>
          <p:nvPr/>
        </p:nvSpPr>
        <p:spPr>
          <a:xfrm>
            <a:off x="3154360" y="5055198"/>
            <a:ext cx="5190317" cy="0"/>
          </a:xfrm>
          <a:prstGeom prst="line">
            <a:avLst/>
          </a:prstGeom>
          <a:noFill/>
          <a:ln w="12700">
            <a:solidFill>
              <a:srgbClr val="6B7280"/>
            </a:solidFill>
            <a:prstDash val="sysDot"/>
          </a:ln>
        </p:spPr>
      </p:sp>
      <p:sp>
        <p:nvSpPr>
          <p:cNvPr id="33" name="Shape 31"/>
          <p:cNvSpPr/>
          <p:nvPr/>
        </p:nvSpPr>
        <p:spPr>
          <a:xfrm flipV="1">
            <a:off x="5749519" y="4768327"/>
            <a:ext cx="0" cy="286871"/>
          </a:xfrm>
          <a:prstGeom prst="line">
            <a:avLst/>
          </a:prstGeom>
          <a:noFill/>
          <a:ln w="12700">
            <a:solidFill>
              <a:srgbClr val="6B7280"/>
            </a:solidFill>
            <a:prstDash val="sysDot"/>
            <a:tailEnd type="triangle"/>
          </a:ln>
        </p:spPr>
      </p:sp>
      <p:sp>
        <p:nvSpPr>
          <p:cNvPr id="34" name="Shape 32"/>
          <p:cNvSpPr/>
          <p:nvPr/>
        </p:nvSpPr>
        <p:spPr>
          <a:xfrm flipV="1">
            <a:off x="8344677" y="4768327"/>
            <a:ext cx="0" cy="286871"/>
          </a:xfrm>
          <a:prstGeom prst="line">
            <a:avLst/>
          </a:prstGeom>
          <a:noFill/>
          <a:ln w="12700">
            <a:solidFill>
              <a:srgbClr val="6B7280"/>
            </a:solidFill>
            <a:prstDash val="sysDot"/>
            <a:tailEnd type="triangle"/>
          </a:ln>
        </p:spPr>
      </p:sp>
      <p:sp>
        <p:nvSpPr>
          <p:cNvPr id="35" name="Text 33"/>
          <p:cNvSpPr txBox="1"/>
          <p:nvPr/>
        </p:nvSpPr>
        <p:spPr>
          <a:xfrm>
            <a:off x="5942198" y="4765458"/>
            <a:ext cx="2209800" cy="292608"/>
          </a:xfrm>
          <a:prstGeom prst="rect">
            <a:avLst/>
          </a:prstGeom>
          <a:noFill/>
          <a:ln/>
        </p:spPr>
        <p:txBody>
          <a:bodyPr wrap="square" lIns="0" tIns="0" rIns="0" bIns="0" rtlCol="0" anchor="ctr"/>
          <a:lstStyle/>
          <a:p>
            <a:pPr algn="ctr" indent="0" marL="0">
              <a:buNone/>
            </a:pPr>
            <a:r>
              <a:rPr lang="en-US" sz="1560" i="1" dirty="0">
                <a:solidFill>
                  <a:srgbClr val="6B7280"/>
                </a:solidFill>
                <a:latin typeface="Calibri" pitchFamily="34" charset="0"/>
                <a:ea typeface="Calibri" pitchFamily="34" charset="-122"/>
                <a:cs typeface="Calibri" pitchFamily="34" charset="-120"/>
              </a:rPr>
              <a:t>matched vs unmatched</a:t>
            </a:r>
            <a:endParaRPr lang="en-US" sz="1560" dirty="0"/>
          </a:p>
        </p:txBody>
      </p:sp>
      <p:sp>
        <p:nvSpPr>
          <p:cNvPr id="36" name="Shape 34"/>
          <p:cNvSpPr/>
          <p:nvPr/>
        </p:nvSpPr>
        <p:spPr>
          <a:xfrm>
            <a:off x="9577608" y="4237616"/>
            <a:ext cx="378653" cy="0"/>
          </a:xfrm>
          <a:prstGeom prst="line">
            <a:avLst/>
          </a:prstGeom>
          <a:noFill/>
          <a:ln w="13970">
            <a:solidFill>
              <a:srgbClr val="9AA2AF"/>
            </a:solidFill>
            <a:prstDash val="dash"/>
            <a:tailEnd type="triangle"/>
          </a:ln>
        </p:spPr>
      </p:sp>
      <p:sp>
        <p:nvSpPr>
          <p:cNvPr id="37" name="Text 35"/>
          <p:cNvSpPr txBox="1"/>
          <p:nvPr/>
        </p:nvSpPr>
        <p:spPr>
          <a:xfrm rot="16200000">
            <a:off x="9610801" y="4091312"/>
            <a:ext cx="1097280" cy="292608"/>
          </a:xfrm>
          <a:prstGeom prst="rect">
            <a:avLst/>
          </a:prstGeom>
          <a:noFill/>
          <a:ln/>
        </p:spPr>
        <p:txBody>
          <a:bodyPr wrap="square" lIns="0" tIns="0" rIns="0" bIns="0" rtlCol="0" anchor="ctr"/>
          <a:lstStyle/>
          <a:p>
            <a:pPr algn="ctr" indent="0" marL="0">
              <a:buNone/>
            </a:pPr>
            <a:r>
              <a:rPr lang="en-US" sz="1560" i="1" dirty="0">
                <a:solidFill>
                  <a:srgbClr val="6B7280"/>
                </a:solidFill>
                <a:latin typeface="Calibri" pitchFamily="34" charset="0"/>
                <a:ea typeface="Calibri" pitchFamily="34" charset="-122"/>
                <a:cs typeface="Calibri" pitchFamily="34" charset="-120"/>
              </a:rPr>
              <a:t>discarded</a:t>
            </a:r>
            <a:endParaRPr lang="en-US" sz="1560" dirty="0"/>
          </a:p>
        </p:txBody>
      </p:sp>
      <p:sp>
        <p:nvSpPr>
          <p:cNvPr id="38" name="Text 36"/>
          <p:cNvSpPr/>
          <p:nvPr/>
        </p:nvSpPr>
        <p:spPr>
          <a:xfrm>
            <a:off x="1755191" y="5485504"/>
            <a:ext cx="2721684" cy="889299"/>
          </a:xfrm>
          <a:prstGeom prst="roundRect">
            <a:avLst>
              <a:gd name="adj" fmla="val 6169"/>
            </a:avLst>
          </a:prstGeom>
          <a:solidFill>
            <a:srgbClr val="F4F6F9"/>
          </a:solidFill>
          <a:ln w="15240">
            <a:solidFill>
              <a:srgbClr val="B8C0CC"/>
            </a:solidFill>
          </a:ln>
        </p:spPr>
        <p:txBody>
          <a:bodyPr wrap="square" lIns="0" tIns="0" rIns="0" bIns="0" rtlCol="0" anchor="ctr"/>
          <a:lstStyle/>
          <a:p>
            <a:pPr algn="ctr" indent="0" marL="0">
              <a:lnSpc>
                <a:spcPct val="105000"/>
              </a:lnSpc>
              <a:buNone/>
            </a:pPr>
            <a:r>
              <a:rPr lang="en-US" sz="1990" dirty="0">
                <a:solidFill>
                  <a:srgbClr val="1A1D23"/>
                </a:solidFill>
                <a:latin typeface="Calibri" pitchFamily="34" charset="0"/>
                <a:ea typeface="Calibri" pitchFamily="34" charset="-122"/>
                <a:cs typeface="Calibri" pitchFamily="34" charset="-120"/>
              </a:rPr>
              <a:t>change</a:t>
            </a:r>
            <a:endParaRPr lang="en-US" sz="1990" dirty="0"/>
          </a:p>
          <a:p>
            <a:pPr algn="ctr" indent="0" marL="0">
              <a:lnSpc>
                <a:spcPct val="105000"/>
              </a:lnSpc>
              <a:buNone/>
            </a:pPr>
            <a:r>
              <a:rPr lang="en-US" sz="1990" dirty="0">
                <a:solidFill>
                  <a:srgbClr val="1A1D23"/>
                </a:solidFill>
                <a:latin typeface="Calibri" pitchFamily="34" charset="0"/>
                <a:ea typeface="Calibri" pitchFamily="34" charset="-122"/>
                <a:cs typeface="Calibri" pitchFamily="34" charset="-120"/>
              </a:rPr>
              <a:t>inventory</a:t>
            </a:r>
            <a:endParaRPr lang="en-US" sz="1990" dirty="0"/>
          </a:p>
        </p:txBody>
      </p:sp>
      <p:sp>
        <p:nvSpPr>
          <p:cNvPr id="39" name="Text 37"/>
          <p:cNvSpPr/>
          <p:nvPr/>
        </p:nvSpPr>
        <p:spPr>
          <a:xfrm>
            <a:off x="4735467" y="5485504"/>
            <a:ext cx="2721684" cy="889299"/>
          </a:xfrm>
          <a:prstGeom prst="roundRect">
            <a:avLst>
              <a:gd name="adj" fmla="val 6169"/>
            </a:avLst>
          </a:prstGeom>
          <a:solidFill>
            <a:srgbClr val="F4F6F9"/>
          </a:solidFill>
          <a:ln w="15240">
            <a:solidFill>
              <a:srgbClr val="B8C0CC"/>
            </a:solidFill>
          </a:ln>
        </p:spPr>
        <p:txBody>
          <a:bodyPr wrap="square" lIns="0" tIns="0" rIns="0" bIns="0" rtlCol="0" anchor="ctr"/>
          <a:lstStyle/>
          <a:p>
            <a:pPr algn="ctr" indent="0" marL="0">
              <a:lnSpc>
                <a:spcPct val="105000"/>
              </a:lnSpc>
              <a:buNone/>
            </a:pPr>
            <a:r>
              <a:rPr lang="en-US" sz="1990" dirty="0">
                <a:solidFill>
                  <a:srgbClr val="1A1D23"/>
                </a:solidFill>
                <a:latin typeface="Calibri" pitchFamily="34" charset="0"/>
                <a:ea typeface="Calibri" pitchFamily="34" charset="-122"/>
                <a:cs typeface="Calibri" pitchFamily="34" charset="-120"/>
              </a:rPr>
              <a:t>LLM report</a:t>
            </a:r>
            <a:endParaRPr lang="en-US" sz="1990" dirty="0"/>
          </a:p>
        </p:txBody>
      </p:sp>
      <p:sp>
        <p:nvSpPr>
          <p:cNvPr id="40" name="Shape 38"/>
          <p:cNvSpPr/>
          <p:nvPr/>
        </p:nvSpPr>
        <p:spPr>
          <a:xfrm>
            <a:off x="4476875" y="5930153"/>
            <a:ext cx="258592" cy="0"/>
          </a:xfrm>
          <a:prstGeom prst="line">
            <a:avLst/>
          </a:prstGeom>
          <a:noFill/>
          <a:ln w="15240">
            <a:solidFill>
              <a:srgbClr val="9AA2AF"/>
            </a:solidFill>
            <a:prstDash val="solid"/>
            <a:tailEnd type="triangle"/>
          </a:ln>
        </p:spPr>
      </p:sp>
      <p:sp>
        <p:nvSpPr>
          <p:cNvPr id="41" name="Text 39"/>
          <p:cNvSpPr/>
          <p:nvPr/>
        </p:nvSpPr>
        <p:spPr>
          <a:xfrm>
            <a:off x="7715744" y="5485504"/>
            <a:ext cx="2721684" cy="889299"/>
          </a:xfrm>
          <a:prstGeom prst="roundRect">
            <a:avLst>
              <a:gd name="adj" fmla="val 6169"/>
            </a:avLst>
          </a:prstGeom>
          <a:solidFill>
            <a:srgbClr val="FFFFFF"/>
          </a:solidFill>
          <a:ln w="15240">
            <a:solidFill>
              <a:srgbClr val="7A8492"/>
            </a:solidFill>
            <a:prstDash val="dash"/>
          </a:ln>
        </p:spPr>
        <p:txBody>
          <a:bodyPr wrap="square" lIns="0" tIns="0" rIns="0" bIns="0" rtlCol="0" anchor="ctr"/>
          <a:lstStyle/>
          <a:p>
            <a:pPr algn="ctr" indent="0" marL="0">
              <a:lnSpc>
                <a:spcPct val="105000"/>
              </a:lnSpc>
              <a:buNone/>
            </a:pPr>
            <a:r>
              <a:rPr lang="en-US" sz="1990" dirty="0">
                <a:solidFill>
                  <a:srgbClr val="1A1D23"/>
                </a:solidFill>
                <a:latin typeface="Calibri" pitchFamily="34" charset="0"/>
                <a:ea typeface="Calibri" pitchFamily="34" charset="-122"/>
                <a:cs typeface="Calibri" pitchFamily="34" charset="-120"/>
              </a:rPr>
              <a:t>Change-</a:t>
            </a:r>
            <a:endParaRPr lang="en-US" sz="1990" dirty="0"/>
          </a:p>
          <a:p>
            <a:pPr algn="ctr" indent="0" marL="0">
              <a:lnSpc>
                <a:spcPct val="105000"/>
              </a:lnSpc>
              <a:buNone/>
            </a:pPr>
            <a:r>
              <a:rPr lang="en-US" sz="1990" dirty="0">
                <a:solidFill>
                  <a:srgbClr val="1A1D23"/>
                </a:solidFill>
                <a:latin typeface="Calibri" pitchFamily="34" charset="0"/>
                <a:ea typeface="Calibri" pitchFamily="34" charset="-122"/>
                <a:cs typeface="Calibri" pitchFamily="34" charset="-120"/>
              </a:rPr>
              <a:t>Fact-Score</a:t>
            </a:r>
            <a:endParaRPr lang="en-US" sz="1990" dirty="0"/>
          </a:p>
        </p:txBody>
      </p:sp>
      <p:sp>
        <p:nvSpPr>
          <p:cNvPr id="42" name="Shape 40"/>
          <p:cNvSpPr/>
          <p:nvPr/>
        </p:nvSpPr>
        <p:spPr>
          <a:xfrm>
            <a:off x="7457151" y="5930153"/>
            <a:ext cx="258592" cy="0"/>
          </a:xfrm>
          <a:prstGeom prst="line">
            <a:avLst/>
          </a:prstGeom>
          <a:noFill/>
          <a:ln w="15240">
            <a:solidFill>
              <a:srgbClr val="9AA2AF"/>
            </a:solidFill>
            <a:prstDash val="dash"/>
            <a:tailEnd type="triangle"/>
          </a:ln>
        </p:spPr>
      </p:sp>
      <p:sp>
        <p:nvSpPr>
          <p:cNvPr id="43" name="Shape 41"/>
          <p:cNvSpPr/>
          <p:nvPr/>
        </p:nvSpPr>
        <p:spPr>
          <a:xfrm>
            <a:off x="3116033" y="5141259"/>
            <a:ext cx="0" cy="344245"/>
          </a:xfrm>
          <a:prstGeom prst="line">
            <a:avLst/>
          </a:prstGeom>
          <a:noFill/>
          <a:ln w="15240">
            <a:solidFill>
              <a:srgbClr val="9AA2AF"/>
            </a:solidFill>
            <a:prstDash val="solid"/>
            <a:tailEnd type="triangle"/>
          </a:ln>
        </p:spPr>
      </p:sp>
      <p:sp>
        <p:nvSpPr>
          <p:cNvPr id="44" name="Text 42"/>
          <p:cNvSpPr txBox="1"/>
          <p:nvPr/>
        </p:nvSpPr>
        <p:spPr>
          <a:xfrm>
            <a:off x="3430038" y="5167077"/>
            <a:ext cx="4754880" cy="292608"/>
          </a:xfrm>
          <a:prstGeom prst="rect">
            <a:avLst/>
          </a:prstGeom>
          <a:noFill/>
          <a:ln/>
        </p:spPr>
        <p:txBody>
          <a:bodyPr wrap="square" lIns="0" tIns="0" rIns="0" bIns="0" rtlCol="0" anchor="ctr"/>
          <a:lstStyle/>
          <a:p>
            <a:pPr algn="l" indent="0" marL="0">
              <a:buNone/>
            </a:pPr>
            <a:r>
              <a:rPr lang="en-US" sz="1670" i="1" dirty="0">
                <a:solidFill>
                  <a:srgbClr val="6B7280"/>
                </a:solidFill>
                <a:latin typeface="Calibri" pitchFamily="34" charset="0"/>
                <a:ea typeface="Calibri" pitchFamily="34" charset="-122"/>
                <a:cs typeface="Calibri" pitchFamily="34" charset="-120"/>
              </a:rPr>
              <a:t>appeared · disappeared · modified · unchanged count</a:t>
            </a:r>
            <a:endParaRPr lang="en-US" sz="16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2026-09-02T06:07:27Z</dcterms:created>
  <dcterms:modified xsi:type="dcterms:W3CDTF">2026-09-02T06:07:27Z</dcterms:modified>
</cp:coreProperties>
</file>